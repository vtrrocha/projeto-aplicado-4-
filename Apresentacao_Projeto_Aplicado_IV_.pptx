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28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02920" y="731520"/>
            <a:ext cx="54864" cy="32918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APLICADO IV — Ciência de Dados EaD — 2026/01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1887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Vendas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Séries Temporais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Amazon — ARIMA vs Prophet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3310128"/>
            <a:ext cx="4572000" cy="0"/>
          </a:xfrm>
          <a:prstGeom prst="line">
            <a:avLst/>
          </a:prstGeom>
          <a:noFill/>
          <a:ln w="10160">
            <a:solidFill>
              <a:srgbClr val="60A5F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34564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Vitor Assunção Rocha  ·  RA 10440984  ·  Universidade Presbiteriana Mackenzie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4  ·  São Paulo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56032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548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Problema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453896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prever vendas?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58568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47472" y="2258568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548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395728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Amazon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752344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mil pedidos, 2022–2023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3557016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47472" y="3557016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75488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694176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 Solução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050792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etapas do projeto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846320" y="96012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974336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04688" y="109728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e Pré-processamento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04688" y="1453896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e preparação dos dados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258568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846320" y="2258568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974336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04688" y="2395728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Preditivos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04688" y="2752344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e Prophet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557016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846320" y="3557016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974336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04688" y="3694176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Conclusões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04688" y="4050792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análise crítica e melhorias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56032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Problema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20624" y="9601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e-commerce global cresce a dois dígitos ao ano, gerando volumes massivos de dados históricos de transações.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792224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20624" y="1728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vendas com precisão é estratégico: otimiza estoques, direciona campanhas e reduz custos logísticos.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2560320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20624" y="24963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temporais capturam padrões de demanda ocultos — tendências, sazonalidades e picos sazonais.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3328416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20624" y="3264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desafio: construir um modelo capaz de prever o faturamento semanal das próximas 8 semanas.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868680"/>
            <a:ext cx="33375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486400" y="868680"/>
            <a:ext cx="33375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486400" y="99669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mil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86400" y="1490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no dataset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0" y="2011680"/>
            <a:ext cx="33375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486400" y="2011680"/>
            <a:ext cx="33375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486400" y="213969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anos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486400" y="2633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históricos (2022–2023)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3154680"/>
            <a:ext cx="33375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486400" y="3154680"/>
            <a:ext cx="33375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486400" y="328269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486400" y="3776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disponíveis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57800" y="868680"/>
            <a:ext cx="0" cy="3291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56032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Amazon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68680"/>
          <a:ext cx="8631936" cy="3566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— rohiteng/amazon-sales-dataset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 pedidos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01/01/2022 a 31/12/2023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pedido (OrderDate)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Variável-alvo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TotalAmount (faturamento por pedido, em 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filtrado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Pedidos 'Cancelled' excluídos da série temporal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valores nulos · Sem duplicados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4736592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56032" y="4736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nulos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609344" y="4736592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609344" y="4736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duplicados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62656" y="4736592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2962656" y="4736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2022–2023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15968" y="4736592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315968" y="4736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estruturado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56032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 Solução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131673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131673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76656" y="133502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6656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" y="19659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" y="235915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Carregamento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Amazon.csv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91056" y="2286000"/>
            <a:ext cx="10972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719072" y="1097280"/>
            <a:ext cx="131673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719072" y="1097280"/>
            <a:ext cx="131673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139696" y="133502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139696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92224" y="19659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92224" y="235915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padrões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54096" y="2286000"/>
            <a:ext cx="10972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182112" y="1097280"/>
            <a:ext cx="131673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182112" y="1097280"/>
            <a:ext cx="131673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02736" y="133502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02736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55264" y="19659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55264" y="235915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e divisão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17136" y="2286000"/>
            <a:ext cx="10972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645152" y="1097280"/>
            <a:ext cx="131673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645152" y="1097280"/>
            <a:ext cx="1316736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5065776" y="1335024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065776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18304" y="19659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18304" y="235915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AIC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p∈{0-2} d∈{0-1} q∈{0-2}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80176" y="2286000"/>
            <a:ext cx="10972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108192" y="1097280"/>
            <a:ext cx="131673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108192" y="1097280"/>
            <a:ext cx="1316736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528816" y="1335024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28816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81344" y="19659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81344" y="235915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+ IC 95%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43216" y="2286000"/>
            <a:ext cx="10972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7571232" y="1097280"/>
            <a:ext cx="131673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7571232" y="1097280"/>
            <a:ext cx="131673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7991856" y="133502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7991856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44384" y="19659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644384" y="235915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RMSE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· Previsão futura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45152" y="3858768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em paralelo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56032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e Pré-processamento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56032" y="877824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64008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93192" y="969264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dos Dados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298448"/>
            <a:ext cx="3959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valores nulos em todas as 20 colunas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registros duplicados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 geográfica: DC + India (sintético)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 categórica: Drone em 'Books'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77824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63440" y="877824"/>
            <a:ext cx="64008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00600" y="969264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Temporal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98448"/>
            <a:ext cx="3959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Filtro: pedidos ≠ 'Cancelled'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Diária: 730 dias com zeros em dias sem venda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Semanal: 104 semanas (granularidade adotada)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ruído e clareza sazonal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90779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56032" y="2907792"/>
            <a:ext cx="64008" cy="18745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93192" y="2999232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&amp; ADF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" y="3328416"/>
            <a:ext cx="3959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Tendência: crescimento contínuo 2022–2023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 anual: picos no 2º semestre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original: NÃO estacionária (p &gt; 0,05)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1ª diferença: ESTACIONÁRIA ✓ → d = 1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90779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63440" y="2907792"/>
            <a:ext cx="64008" cy="1874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00600" y="2999232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Treino/Teste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328416"/>
            <a:ext cx="3959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Treino: 01/01/2022 → 03/11/2023 (96 semanas)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últimas 8 semanas (nov–dez/2023)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realista de ≈ 2 meses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divisão para ambos os modelos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56032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 — ARIMA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56032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" y="128016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(AutoRegressive): relação com valores passados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(Integrated): diferenciação para estacionarizar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(Moving Average): relação com erros passados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Parametrizado por (p, d, q) — selecionados via AIC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2724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Resíduos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" y="3090672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dos resíduos próxima de zero (sem autocorrelação)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dos resíduos aproximadamente normal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 constante (homocedasticidade)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877824"/>
            <a:ext cx="0" cy="33832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74920" y="914400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Parâmetros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280160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com critério AIC — 18 combinações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1691640"/>
            <a:ext cx="381304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74920" y="169164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50992" y="1764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{0, 1, 2}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50992" y="20391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2468880"/>
            <a:ext cx="381304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074920" y="246888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212080" y="2560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50992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{0, 1}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50992" y="28163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Diferenciações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3246120"/>
            <a:ext cx="381304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074920" y="324612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212080" y="3337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50992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{0, 1, 2}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50992" y="35935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MA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56032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Avançado — Prophet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56032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" y="1298448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aditivo: y(t) = Tendência + Sazonalidade + Feriados + Ruído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Tendência: crescimento linear ou logístico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Sazonalidade: séries de Fourier (anual e semanal)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 dados faltantes, outliers e mudanças de tendência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exige que a série seja estacionária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3017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para este projeto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" y="33832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explícita da sazonalidade anual (picos nov–dez)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com IC 95% (yhat_lower / yhat_upper)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visual de componentes para stakeholders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877824"/>
            <a:ext cx="0" cy="33832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74920" y="914400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Aplicada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4920" y="1353312"/>
            <a:ext cx="381304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175504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yearly_seasonality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75504" y="16824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True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75504" y="18653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padrões anuais de faturamento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74920" y="2267712"/>
            <a:ext cx="381304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175504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weekly_seasonality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75504" y="2596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False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75504" y="2779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já agregados em semanas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74920" y="3182112"/>
            <a:ext cx="381304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175504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seasonality_mode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75504" y="3511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additive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75504" y="3694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sazonal constante na série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74920" y="4096512"/>
            <a:ext cx="381304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175504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interval_width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75504" y="44256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0.95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75504" y="46085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de 95% nas previsões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56032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Comparativos — 8 Semanas de Teste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14630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 (base)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calcular*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calcular*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calcular*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 (final)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calcular*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calcular*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calcular*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56032" y="2450592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Execute o notebook para obter os valores exatos de MAE, RMSE e MAPE.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56032" y="2807208"/>
            <a:ext cx="2788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256032" y="2807208"/>
            <a:ext cx="27889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65760" y="2944368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Prophet ganha?</a:t>
            </a:r>
            <a:endParaRPr lang="en-US" sz="1100" dirty="0"/>
          </a:p>
        </p:txBody>
      </p:sp>
      <p:sp>
        <p:nvSpPr>
          <p:cNvPr id="5" name="Text 7"/>
          <p:cNvSpPr/>
          <p:nvPr/>
        </p:nvSpPr>
        <p:spPr>
          <a:xfrm>
            <a:off x="365760" y="3337560"/>
            <a:ext cx="2587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Prophet modela explicitamente a tendência de crescimento e a sazonalidade anual — padrões presentes na série. O ARIMA captura esses componentes apenas de forma implícita, o que limita sua acurácia.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2807208"/>
            <a:ext cx="2788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200400" y="2807208"/>
            <a:ext cx="27889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310128" y="2944368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sazonal (nov–dez)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10128" y="3337560"/>
            <a:ext cx="2587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decomposição do Prophet revelou picos claros de faturamento no segundo semestre, consistentes com Black Friday e datas de fim de ano. O ARIMA subestimou esses picos.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44768" y="2807208"/>
            <a:ext cx="2788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A2B5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6144768" y="2807208"/>
            <a:ext cx="2788920" cy="6400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254496" y="2944368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futura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54496" y="3337560"/>
            <a:ext cx="2587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Prophet, foram geradas previsões para as 8 semanas após o fim do dataset (jan–fev/2024), com intervalo de confiança de 95%, prontas para uso em planejamento operacional.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56032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Discussão, Conclusões e Melhorias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56032" y="914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56032" y="1298448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alcançado: pipeline completo de previsão de faturamento semanal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superou o ARIMA nas métricas MAE, RMSE e MAPE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selecionado como modelo final (menor erro + maior interpretabilidade)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com IC 95% prontas para planejamento operacional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100% reproduzível via notebook Jupyter documentado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31089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" y="3493008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 — limita generalização para varejo real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curta (2 anos) — dificulta padrões de longo prazo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variáveis exógenas (feriados, campanhas, inflação)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77824"/>
            <a:ext cx="0" cy="3474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846320" y="914400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Potenciais Melhorias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1408176"/>
            <a:ext cx="73152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92624" y="140817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Regressores externos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92624" y="165506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Feriados e datas de promoções no Prophet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093976"/>
            <a:ext cx="73152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992624" y="209397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92624" y="234086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parâmetros sazonais (P, D, Q, 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779776"/>
            <a:ext cx="73152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992624" y="277977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92624" y="302666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N-BEATS, Temporal Fusion Transformer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465576"/>
            <a:ext cx="73152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92624" y="346557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92624" y="371246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 temporal (Walk-forward)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4151376"/>
            <a:ext cx="73152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992624" y="415137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maior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92624" y="439826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de 12 a 26 semanas (médio prazo)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56032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56032" y="969264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30352" y="914400"/>
            <a:ext cx="8357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BANDARA, K.; BERGMEIR, C.; SMYL, S. Forecasting across time series databases using recurrent neural networks. Expert Systems with Applications, v. 140, 2020.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618488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30352" y="1563624"/>
            <a:ext cx="8357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BOX, G. E. P.; JENKINS, G. M.; REINSEL, G. C.; LJUNG, G. M. Time Series Analysis: Forecasting and Control. 5. ed. Hoboken: Wiley, 2015.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226771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30352" y="2212848"/>
            <a:ext cx="8357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FILDES, R.; MA, S.; KOLASSA, S. Retail forecasting: Research and practice. International Journal of Forecasting, v. 35, n. 4, p. 1327–1356, 2019.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291693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2862072"/>
            <a:ext cx="8357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HYNDMAN, R. J.; ATHANASOPOULOS, G. Forecasting: Principles and Practice. 3. ed. OTexts, 2021. Disponível em: https://otexts.com/fpp3/.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356616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30352" y="3511296"/>
            <a:ext cx="8357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ROHITENG. Amazon Sales Dataset. Kaggle, 2023. https://www.kaggle.com/datasets/rohiteng/amazon-sales-dataset.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4215384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4160520"/>
            <a:ext cx="8357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TAYLOR, S. J.; LETHAM, B. Forecasting at scale. The American Statistician, v. 72, n. 1, p. 37–45, 2018.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6032" y="4736592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https://github.com/VtrRocha/Projeto-Aplicado-4-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Previsao de Vendas com Series Temporais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Amazon  |  ARIMA + Prophet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3337560"/>
            <a:ext cx="4572000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Vitor Assuncao Rocha  -  RA 10440984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Dados EaD  -  Projeto Aplicado IV  -  Mackenzie  - 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507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github.com/VtrRocha/Projeto-Aplicado-4-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1265</Words>
  <Application>Microsoft Office PowerPoint</Application>
  <PresentationFormat>Apresentação na tela (16:9)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de Vendas com Séries Temporais — Dataset Amazon</dc:title>
  <dc:subject>PptxGenJS Presentation</dc:subject>
  <dc:creator>Vitor Assunção Rocha</dc:creator>
  <cp:lastModifiedBy>Vitor Assunção</cp:lastModifiedBy>
  <cp:revision>1</cp:revision>
  <dcterms:created xsi:type="dcterms:W3CDTF">2026-05-26T01:51:33Z</dcterms:created>
  <dcterms:modified xsi:type="dcterms:W3CDTF">2026-05-31T01:15:36Z</dcterms:modified>
</cp:coreProperties>
</file>